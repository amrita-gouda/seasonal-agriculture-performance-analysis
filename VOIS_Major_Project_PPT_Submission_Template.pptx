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2"/>
  </p:notesMasterIdLst>
  <p:handoutMasterIdLst>
    <p:handoutMasterId r:id="rId23"/>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9" r:id="rId17"/>
    <p:sldId id="341" r:id="rId18"/>
    <p:sldId id="342" r:id="rId19"/>
    <p:sldId id="343"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1" d="100"/>
          <a:sy n="81" d="100"/>
        </p:scale>
        <p:origin x="658" y="58"/>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15-Sep-26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15-Sep-26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15-Sep-26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15-Sep-26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15-Sep-26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15-Sep-26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15-Sep-26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15-Sep-26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15-Sep-26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15-Sep-26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15-Sep-26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15-Sep-26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15-Sep-26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15-Sep-26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15-Sep-26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15-Sep-26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15-Sep-26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15-Sep-26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15-Sep-26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15-Sep-26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655498"/>
            <a:ext cx="4876432" cy="861497"/>
          </a:xfrm>
        </p:spPr>
        <p:txBody>
          <a:bodyPr vert="horz" lIns="91440" tIns="45720" rIns="91440" bIns="45720" rtlCol="0" anchor="t">
            <a:normAutofit fontScale="85000" lnSpcReduction="10000"/>
          </a:bodyPr>
          <a:lstStyle/>
          <a:p>
            <a:pPr algn="r"/>
            <a:r>
              <a:rPr lang="en-US" b="0" dirty="0">
                <a:solidFill>
                  <a:schemeClr val="tx1"/>
                </a:solidFill>
              </a:rPr>
              <a:t>[Student Name:-</a:t>
            </a:r>
            <a:r>
              <a:rPr lang="en-US" dirty="0">
                <a:solidFill>
                  <a:schemeClr val="tx1"/>
                </a:solidFill>
              </a:rPr>
              <a:t>Amrita </a:t>
            </a:r>
            <a:r>
              <a:rPr lang="en-US" dirty="0" err="1">
                <a:solidFill>
                  <a:schemeClr val="tx1"/>
                </a:solidFill>
              </a:rPr>
              <a:t>Prashantkumar</a:t>
            </a:r>
            <a:r>
              <a:rPr lang="en-US" dirty="0">
                <a:solidFill>
                  <a:schemeClr val="tx1"/>
                </a:solidFill>
              </a:rPr>
              <a:t> Gouda </a:t>
            </a:r>
            <a:endParaRPr lang="en-IN" dirty="0">
              <a:solidFill>
                <a:schemeClr val="tx1"/>
              </a:solidFill>
            </a:endParaRPr>
          </a:p>
          <a:p>
            <a:pPr algn="r"/>
            <a:r>
              <a:rPr lang="en-US" dirty="0">
                <a:solidFill>
                  <a:schemeClr val="tx1"/>
                </a:solidFill>
              </a:rPr>
              <a:t>College Name-</a:t>
            </a:r>
            <a:r>
              <a:rPr lang="en-US" dirty="0" err="1">
                <a:solidFill>
                  <a:schemeClr val="tx1"/>
                </a:solidFill>
              </a:rPr>
              <a:t>Vishwbharti</a:t>
            </a:r>
            <a:r>
              <a:rPr lang="en-US" dirty="0">
                <a:solidFill>
                  <a:schemeClr val="tx1"/>
                </a:solidFill>
              </a:rPr>
              <a:t> Girl College </a:t>
            </a:r>
            <a:r>
              <a:rPr lang="en-US" b="0" dirty="0">
                <a:solidFill>
                  <a:schemeClr val="tx1"/>
                </a:solidFill>
              </a:rPr>
              <a:t>]</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866900" y="2530638"/>
            <a:ext cx="7108176" cy="1124860"/>
          </a:xfrm>
        </p:spPr>
        <p:txBody>
          <a:bodyPr>
            <a:normAutofit/>
          </a:bodyPr>
          <a:lstStyle/>
          <a:p>
            <a:r>
              <a:rPr lang="en-GB" sz="3200" dirty="0"/>
              <a:t>Project Title -</a:t>
            </a:r>
            <a:r>
              <a:rPr lang="en-US"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3831410" cy="646331"/>
          </a:xfrm>
          <a:prstGeom prst="rect">
            <a:avLst/>
          </a:prstGeom>
          <a:noFill/>
        </p:spPr>
        <p:txBody>
          <a:bodyPr wrap="square" rtlCol="0">
            <a:spAutoFit/>
          </a:bodyPr>
          <a:lstStyle/>
          <a:p>
            <a:r>
              <a:rPr lang="en-US" b="1" dirty="0"/>
              <a:t>AICTE STU ID : (STU6a6ca5d02c2061785505232)</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52945" y="1642685"/>
            <a:ext cx="6431280" cy="4319687"/>
          </a:xfrm>
        </p:spPr>
        <p:txBody>
          <a:bodyPr vert="horz" lIns="91440" tIns="45720" rIns="91440" bIns="45720" rtlCol="0" anchor="t">
            <a:noAutofit/>
          </a:bodyPr>
          <a:lstStyle/>
          <a:p>
            <a:pPr>
              <a:lnSpc>
                <a:spcPct val="150000"/>
              </a:lnSpc>
            </a:pPr>
            <a:r>
              <a:rPr lang="en-US" sz="16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endParaRPr lang="en-IN" sz="16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467359" y="399860"/>
            <a:ext cx="6276109" cy="830997"/>
          </a:xfrm>
        </p:spPr>
        <p:txBody>
          <a:bodyPr>
            <a:normAutofit fontScale="90000"/>
          </a:bodyPr>
          <a:lstStyle/>
          <a:p>
            <a:r>
              <a:rPr lang="en-GB" dirty="0"/>
              <a:t>Project Description</a:t>
            </a:r>
            <a:br>
              <a:rPr lang="en-GB" dirty="0"/>
            </a:br>
            <a:br>
              <a:rPr lang="en-GB" dirty="0"/>
            </a:br>
            <a:r>
              <a:rPr lang="en-US" sz="2000" b="0" dirty="0"/>
              <a:t>Seasonal Agriculture Performance Analysis is a data analytics project that examines agricultural performance across different seasons using Python. The project analyzes factors such as crop yield, rainfall, temperature, humidity, revenue, profit, water usage, and irrigation methods to identify seasonal trends and patterns. Data cleaning, visualization, and statistical analysis are performed using Pandas, NumPy, Matplotlib, and Seaborn. The insights generated from the analysis help understand seasonal variations, improve resource utilization, and support data-driven decision-making for better agricultural planning. This project is implemented in Google </a:t>
            </a:r>
            <a:r>
              <a:rPr lang="en-US" sz="2000" b="0" dirty="0" err="1"/>
              <a:t>Colab</a:t>
            </a:r>
            <a:r>
              <a:rPr lang="en-US" sz="2000" b="0" dirty="0"/>
              <a:t> using Python.</a:t>
            </a:r>
            <a:br>
              <a:rPr lang="en-GB" sz="2000" b="0" dirty="0"/>
            </a:br>
            <a:endParaRPr lang="en-IN" sz="2000"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5487C9AF-E753-5CEF-FD48-8A0E8BAF5BB4}"/>
              </a:ext>
            </a:extLst>
          </p:cNvPr>
          <p:cNvSpPr>
            <a:spLocks noGrp="1" noChangeArrowheads="1"/>
          </p:cNvSpPr>
          <p:nvPr>
            <p:ph type="body" sz="quarter" idx="12"/>
          </p:nvPr>
        </p:nvSpPr>
        <p:spPr bwMode="auto">
          <a:xfrm>
            <a:off x="485055" y="736960"/>
            <a:ext cx="7905750" cy="399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Farmers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Agricultural Researchers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Government Agencies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Agricultural Officers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Agribusiness Companies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Data Analysts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Students and Educational Institutions </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3" name="Rectangle 1">
            <a:extLst>
              <a:ext uri="{FF2B5EF4-FFF2-40B4-BE49-F238E27FC236}">
                <a16:creationId xmlns:a16="http://schemas.microsoft.com/office/drawing/2014/main" id="{8F87C3CC-A544-3500-D4F3-2119CD4CFD29}"/>
              </a:ext>
            </a:extLst>
          </p:cNvPr>
          <p:cNvSpPr>
            <a:spLocks noGrp="1" noChangeArrowheads="1"/>
          </p:cNvSpPr>
          <p:nvPr>
            <p:ph type="body" sz="quarter" idx="12"/>
          </p:nvPr>
        </p:nvSpPr>
        <p:spPr bwMode="auto">
          <a:xfrm>
            <a:off x="546755" y="1395110"/>
            <a:ext cx="845710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Python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Google </a:t>
            </a:r>
            <a:r>
              <a:rPr kumimoji="0" lang="en-US" altLang="en-US" sz="1800" b="0" i="0" u="none" strike="noStrike" cap="none" normalizeH="0" baseline="0" dirty="0" err="1">
                <a:ln>
                  <a:noFill/>
                </a:ln>
                <a:solidFill>
                  <a:schemeClr val="tx1"/>
                </a:solidFill>
                <a:effectLst/>
                <a:latin typeface="Arial" panose="020B0604020202020204" pitchFamily="34" charset="0"/>
              </a:rPr>
              <a:t>Colab</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Pandas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NumPy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Matplotlib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Seaborn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CSV Dataset </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fontScale="70000" lnSpcReduction="20000"/>
          </a:bodyPr>
          <a:lstStyle/>
          <a:p>
            <a:pPr marL="0" indent="0">
              <a:buNone/>
            </a:pPr>
            <a:r>
              <a:rPr lang="en-US" dirty="0"/>
              <a:t>[In this slide I am import the dataset and different Libraries in google </a:t>
            </a:r>
            <a:r>
              <a:rPr lang="en-US" dirty="0" err="1"/>
              <a:t>colab</a:t>
            </a:r>
            <a:r>
              <a:rPr lang="en-US" dirty="0"/>
              <a:t> ] ]</a:t>
            </a:r>
            <a:endParaRPr lang="en-IN" dirty="0"/>
          </a:p>
        </p:txBody>
      </p:sp>
      <p:pic>
        <p:nvPicPr>
          <p:cNvPr id="2" name="Picture 1">
            <a:extLst>
              <a:ext uri="{FF2B5EF4-FFF2-40B4-BE49-F238E27FC236}">
                <a16:creationId xmlns:a16="http://schemas.microsoft.com/office/drawing/2014/main" id="{292968F9-30CE-B584-B1CF-FDF50A04605B}"/>
              </a:ext>
            </a:extLst>
          </p:cNvPr>
          <p:cNvPicPr>
            <a:picLocks noChangeAspect="1"/>
          </p:cNvPicPr>
          <p:nvPr/>
        </p:nvPicPr>
        <p:blipFill>
          <a:blip r:embed="rId3"/>
          <a:stretch>
            <a:fillRect/>
          </a:stretch>
        </p:blipFill>
        <p:spPr>
          <a:xfrm>
            <a:off x="231801" y="1941449"/>
            <a:ext cx="8150490" cy="3818084"/>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normAutofit fontScale="70000" lnSpcReduction="20000"/>
          </a:bodyPr>
          <a:lstStyle/>
          <a:p>
            <a:pPr marL="0" indent="0">
              <a:buNone/>
            </a:pPr>
            <a:r>
              <a:rPr lang="en-US" dirty="0"/>
              <a:t>[In this slide we can saw first 5 and last 5 Rows ]</a:t>
            </a:r>
            <a:endParaRPr lang="en-IN" dirty="0"/>
          </a:p>
        </p:txBody>
      </p:sp>
      <p:pic>
        <p:nvPicPr>
          <p:cNvPr id="2" name="Picture 1">
            <a:extLst>
              <a:ext uri="{FF2B5EF4-FFF2-40B4-BE49-F238E27FC236}">
                <a16:creationId xmlns:a16="http://schemas.microsoft.com/office/drawing/2014/main" id="{7655E260-6291-9E10-1A03-51C98864CD02}"/>
              </a:ext>
            </a:extLst>
          </p:cNvPr>
          <p:cNvPicPr>
            <a:picLocks noChangeAspect="1"/>
          </p:cNvPicPr>
          <p:nvPr/>
        </p:nvPicPr>
        <p:blipFill>
          <a:blip r:embed="rId3"/>
          <a:stretch>
            <a:fillRect/>
          </a:stretch>
        </p:blipFill>
        <p:spPr>
          <a:xfrm>
            <a:off x="336348" y="1909213"/>
            <a:ext cx="7352907" cy="2117262"/>
          </a:xfrm>
          <a:prstGeom prst="rect">
            <a:avLst/>
          </a:prstGeom>
        </p:spPr>
      </p:pic>
      <p:pic>
        <p:nvPicPr>
          <p:cNvPr id="3" name="Picture 2">
            <a:extLst>
              <a:ext uri="{FF2B5EF4-FFF2-40B4-BE49-F238E27FC236}">
                <a16:creationId xmlns:a16="http://schemas.microsoft.com/office/drawing/2014/main" id="{8CBF9A25-AF12-8167-E7A6-3E8925805A13}"/>
              </a:ext>
            </a:extLst>
          </p:cNvPr>
          <p:cNvPicPr>
            <a:picLocks noChangeAspect="1"/>
          </p:cNvPicPr>
          <p:nvPr/>
        </p:nvPicPr>
        <p:blipFill>
          <a:blip r:embed="rId4"/>
          <a:stretch>
            <a:fillRect/>
          </a:stretch>
        </p:blipFill>
        <p:spPr>
          <a:xfrm>
            <a:off x="336348" y="4026475"/>
            <a:ext cx="7736377" cy="2110332"/>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448945" y="1319019"/>
            <a:ext cx="4275138" cy="477520"/>
          </a:xfrm>
        </p:spPr>
        <p:txBody>
          <a:bodyPr>
            <a:normAutofit fontScale="70000" lnSpcReduction="20000"/>
          </a:bodyPr>
          <a:lstStyle/>
          <a:p>
            <a:pPr marL="0" indent="0">
              <a:buNone/>
            </a:pPr>
            <a:r>
              <a:rPr lang="en-US" dirty="0"/>
              <a:t>[in this slide we can saw how any row and </a:t>
            </a:r>
            <a:r>
              <a:rPr lang="en-US" dirty="0" err="1"/>
              <a:t>colum</a:t>
            </a:r>
            <a:r>
              <a:rPr lang="en-US" dirty="0"/>
              <a:t> inside the Dataset </a:t>
            </a:r>
            <a:endParaRPr lang="en-IN" dirty="0"/>
          </a:p>
        </p:txBody>
      </p:sp>
      <p:pic>
        <p:nvPicPr>
          <p:cNvPr id="11" name="Picture 10">
            <a:extLst>
              <a:ext uri="{FF2B5EF4-FFF2-40B4-BE49-F238E27FC236}">
                <a16:creationId xmlns:a16="http://schemas.microsoft.com/office/drawing/2014/main" id="{4842615B-0483-E701-F793-9ECDF2DFBADC}"/>
              </a:ext>
            </a:extLst>
          </p:cNvPr>
          <p:cNvPicPr>
            <a:picLocks noChangeAspect="1"/>
          </p:cNvPicPr>
          <p:nvPr/>
        </p:nvPicPr>
        <p:blipFill>
          <a:blip r:embed="rId3"/>
          <a:stretch>
            <a:fillRect/>
          </a:stretch>
        </p:blipFill>
        <p:spPr>
          <a:xfrm>
            <a:off x="262385" y="2366945"/>
            <a:ext cx="8806202" cy="3146305"/>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normAutofit fontScale="70000" lnSpcReduction="20000"/>
          </a:bodyPr>
          <a:lstStyle/>
          <a:p>
            <a:pPr marL="0" indent="0">
              <a:buNone/>
            </a:pPr>
            <a:r>
              <a:rPr lang="en-US" dirty="0"/>
              <a:t>[In this slide we can check </a:t>
            </a:r>
            <a:r>
              <a:rPr lang="en-US" dirty="0" err="1"/>
              <a:t>uniquw</a:t>
            </a:r>
            <a:r>
              <a:rPr lang="en-US" dirty="0"/>
              <a:t> value each </a:t>
            </a:r>
            <a:r>
              <a:rPr lang="en-US" dirty="0" err="1"/>
              <a:t>colum</a:t>
            </a:r>
            <a:r>
              <a:rPr lang="en-US" dirty="0"/>
              <a:t> </a:t>
            </a:r>
            <a:endParaRPr lang="en-IN" dirty="0"/>
          </a:p>
        </p:txBody>
      </p:sp>
      <p:pic>
        <p:nvPicPr>
          <p:cNvPr id="14" name="Picture 13">
            <a:extLst>
              <a:ext uri="{FF2B5EF4-FFF2-40B4-BE49-F238E27FC236}">
                <a16:creationId xmlns:a16="http://schemas.microsoft.com/office/drawing/2014/main" id="{983A43DE-8C9A-AFAD-D8A3-DAD000A62849}"/>
              </a:ext>
            </a:extLst>
          </p:cNvPr>
          <p:cNvPicPr>
            <a:picLocks noChangeAspect="1"/>
          </p:cNvPicPr>
          <p:nvPr/>
        </p:nvPicPr>
        <p:blipFill>
          <a:blip r:embed="rId3"/>
          <a:stretch>
            <a:fillRect/>
          </a:stretch>
        </p:blipFill>
        <p:spPr>
          <a:xfrm>
            <a:off x="5568484" y="1909213"/>
            <a:ext cx="2630031" cy="4538606"/>
          </a:xfrm>
          <a:prstGeom prst="rect">
            <a:avLst/>
          </a:prstGeom>
        </p:spPr>
      </p:pic>
      <p:pic>
        <p:nvPicPr>
          <p:cNvPr id="16" name="Picture 15">
            <a:extLst>
              <a:ext uri="{FF2B5EF4-FFF2-40B4-BE49-F238E27FC236}">
                <a16:creationId xmlns:a16="http://schemas.microsoft.com/office/drawing/2014/main" id="{AADAFDF8-CEA8-B135-49A8-FE9D0BFE8734}"/>
              </a:ext>
            </a:extLst>
          </p:cNvPr>
          <p:cNvPicPr>
            <a:picLocks noChangeAspect="1"/>
          </p:cNvPicPr>
          <p:nvPr/>
        </p:nvPicPr>
        <p:blipFill>
          <a:blip r:embed="rId4"/>
          <a:stretch>
            <a:fillRect/>
          </a:stretch>
        </p:blipFill>
        <p:spPr>
          <a:xfrm>
            <a:off x="1895398" y="1828799"/>
            <a:ext cx="2721115" cy="4232845"/>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675956" y="1344750"/>
            <a:ext cx="4763309" cy="477520"/>
          </a:xfrm>
        </p:spPr>
        <p:txBody>
          <a:bodyPr>
            <a:normAutofit fontScale="70000" lnSpcReduction="20000"/>
          </a:bodyPr>
          <a:lstStyle/>
          <a:p>
            <a:pPr marL="0" indent="0">
              <a:buNone/>
            </a:pPr>
            <a:r>
              <a:rPr lang="en-US" dirty="0"/>
              <a:t>[In this slide be can check </a:t>
            </a:r>
            <a:r>
              <a:rPr lang="en-US" dirty="0" err="1"/>
              <a:t>Check</a:t>
            </a:r>
            <a:r>
              <a:rPr lang="en-US" dirty="0"/>
              <a:t> </a:t>
            </a:r>
            <a:r>
              <a:rPr lang="en-US" dirty="0" err="1"/>
              <a:t>StatisticalSummary</a:t>
            </a:r>
            <a:r>
              <a:rPr lang="en-US" dirty="0"/>
              <a:t> of Numerical Data]</a:t>
            </a:r>
            <a:endParaRPr lang="en-IN" dirty="0"/>
          </a:p>
        </p:txBody>
      </p:sp>
      <p:pic>
        <p:nvPicPr>
          <p:cNvPr id="9" name="Picture 8">
            <a:extLst>
              <a:ext uri="{FF2B5EF4-FFF2-40B4-BE49-F238E27FC236}">
                <a16:creationId xmlns:a16="http://schemas.microsoft.com/office/drawing/2014/main" id="{38798AC3-C545-DCA8-90F0-7868B5D6DF9D}"/>
              </a:ext>
            </a:extLst>
          </p:cNvPr>
          <p:cNvPicPr>
            <a:picLocks noChangeAspect="1"/>
          </p:cNvPicPr>
          <p:nvPr/>
        </p:nvPicPr>
        <p:blipFill>
          <a:blip r:embed="rId3"/>
          <a:stretch>
            <a:fillRect/>
          </a:stretch>
        </p:blipFill>
        <p:spPr>
          <a:xfrm>
            <a:off x="837744" y="2046658"/>
            <a:ext cx="7995171" cy="4038141"/>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A088E-CE73-6BAC-A99B-5575D7E8A70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E1D6CDC-4DFE-FAB7-6DF1-37CBA942DF6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A113371-3157-8884-F3C1-2561E468716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FEBE384-A273-5091-FBB2-D73CA9A403F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4EC003D-C35B-1876-0459-443AC06D4D2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0EBD6C5B-D882-569F-33EC-388911219A14}"/>
              </a:ext>
            </a:extLst>
          </p:cNvPr>
          <p:cNvSpPr>
            <a:spLocks noGrp="1"/>
          </p:cNvSpPr>
          <p:nvPr>
            <p:ph type="body" sz="quarter" idx="12"/>
          </p:nvPr>
        </p:nvSpPr>
        <p:spPr>
          <a:xfrm>
            <a:off x="675957" y="1344750"/>
            <a:ext cx="4275138" cy="477520"/>
          </a:xfrm>
        </p:spPr>
        <p:txBody>
          <a:bodyPr>
            <a:normAutofit fontScale="70000" lnSpcReduction="20000"/>
          </a:bodyPr>
          <a:lstStyle/>
          <a:p>
            <a:pPr marL="0" indent="0">
              <a:buNone/>
            </a:pPr>
            <a:r>
              <a:rPr lang="en-US" dirty="0"/>
              <a:t>[ in this slide we can see the  Water Used vs Production]</a:t>
            </a:r>
            <a:endParaRPr lang="en-IN" dirty="0"/>
          </a:p>
        </p:txBody>
      </p:sp>
      <p:pic>
        <p:nvPicPr>
          <p:cNvPr id="3" name="Picture 2">
            <a:extLst>
              <a:ext uri="{FF2B5EF4-FFF2-40B4-BE49-F238E27FC236}">
                <a16:creationId xmlns:a16="http://schemas.microsoft.com/office/drawing/2014/main" id="{7BD91FBF-DC5B-9EDE-17B2-161339129A86}"/>
              </a:ext>
            </a:extLst>
          </p:cNvPr>
          <p:cNvPicPr>
            <a:picLocks noChangeAspect="1"/>
          </p:cNvPicPr>
          <p:nvPr/>
        </p:nvPicPr>
        <p:blipFill>
          <a:blip r:embed="rId3"/>
          <a:stretch>
            <a:fillRect/>
          </a:stretch>
        </p:blipFill>
        <p:spPr>
          <a:xfrm>
            <a:off x="675957" y="2064630"/>
            <a:ext cx="7369179" cy="4503810"/>
          </a:xfrm>
          <a:prstGeom prst="rect">
            <a:avLst/>
          </a:prstGeom>
        </p:spPr>
      </p:pic>
    </p:spTree>
    <p:extLst>
      <p:ext uri="{BB962C8B-B14F-4D97-AF65-F5344CB8AC3E}">
        <p14:creationId xmlns:p14="http://schemas.microsoft.com/office/powerpoint/2010/main" val="3996877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BA994-95B4-6A20-28E6-495701FF10F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A5ECB2E-5E54-3D18-B292-1B0D70A7267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DEF7529-13EA-C540-875A-07C9702D27A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02D606EF-1EBE-0DF6-2619-A20E10BA00C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775EF8D-52DC-A8B1-F8F8-12D12194143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B9A1FF8-2982-25DE-7A4D-7C1CCE9C3371}"/>
              </a:ext>
            </a:extLst>
          </p:cNvPr>
          <p:cNvSpPr>
            <a:spLocks noGrp="1"/>
          </p:cNvSpPr>
          <p:nvPr>
            <p:ph type="body" sz="quarter" idx="12"/>
          </p:nvPr>
        </p:nvSpPr>
        <p:spPr>
          <a:xfrm>
            <a:off x="675957" y="1344750"/>
            <a:ext cx="4275138" cy="477520"/>
          </a:xfrm>
        </p:spPr>
        <p:txBody>
          <a:bodyPr>
            <a:normAutofit fontScale="70000" lnSpcReduction="20000"/>
          </a:bodyPr>
          <a:lstStyle/>
          <a:p>
            <a:pPr marL="0" indent="0">
              <a:buNone/>
            </a:pPr>
            <a:r>
              <a:rPr lang="en-US" dirty="0"/>
              <a:t>[ In this slide we can see the Water Used vs Production]</a:t>
            </a:r>
            <a:endParaRPr lang="en-IN" dirty="0"/>
          </a:p>
        </p:txBody>
      </p:sp>
      <p:pic>
        <p:nvPicPr>
          <p:cNvPr id="6" name="Picture 5">
            <a:extLst>
              <a:ext uri="{FF2B5EF4-FFF2-40B4-BE49-F238E27FC236}">
                <a16:creationId xmlns:a16="http://schemas.microsoft.com/office/drawing/2014/main" id="{5F516996-0925-E4C3-F28F-C9C11AC52CDF}"/>
              </a:ext>
            </a:extLst>
          </p:cNvPr>
          <p:cNvPicPr>
            <a:picLocks noChangeAspect="1"/>
          </p:cNvPicPr>
          <p:nvPr/>
        </p:nvPicPr>
        <p:blipFill>
          <a:blip r:embed="rId3"/>
          <a:stretch>
            <a:fillRect/>
          </a:stretch>
        </p:blipFill>
        <p:spPr>
          <a:xfrm>
            <a:off x="853523" y="1734621"/>
            <a:ext cx="6835732" cy="4618120"/>
          </a:xfrm>
          <a:prstGeom prst="rect">
            <a:avLst/>
          </a:prstGeom>
        </p:spPr>
      </p:pic>
    </p:spTree>
    <p:extLst>
      <p:ext uri="{BB962C8B-B14F-4D97-AF65-F5344CB8AC3E}">
        <p14:creationId xmlns:p14="http://schemas.microsoft.com/office/powerpoint/2010/main" val="641628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E6A5B-E315-FE49-002A-31F8A2369AD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A2894A2-55D8-203A-A271-D162A018410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BBCBD56-120F-7F01-A84B-B86EC20082F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0B6791B-2238-0F2D-D1E2-EEB9BC5164C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247F3E7-E782-9827-3457-38408BFD157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06C8E09-34E6-468E-083C-A6B524D89BE5}"/>
              </a:ext>
            </a:extLst>
          </p:cNvPr>
          <p:cNvSpPr>
            <a:spLocks noGrp="1"/>
          </p:cNvSpPr>
          <p:nvPr>
            <p:ph type="body" sz="quarter" idx="12"/>
          </p:nvPr>
        </p:nvSpPr>
        <p:spPr>
          <a:xfrm>
            <a:off x="675957" y="1344750"/>
            <a:ext cx="4275138" cy="477520"/>
          </a:xfrm>
        </p:spPr>
        <p:txBody>
          <a:bodyPr>
            <a:normAutofit fontScale="47500" lnSpcReduction="20000"/>
          </a:bodyPr>
          <a:lstStyle/>
          <a:p>
            <a:pPr marL="0" indent="0">
              <a:buNone/>
            </a:pPr>
            <a:r>
              <a:rPr lang="en-US" dirty="0"/>
              <a:t>[in this slide Average Revenue by Season:-This pie chart represents the percentage share of average revenue contributed by each season]</a:t>
            </a:r>
            <a:endParaRPr lang="en-IN" dirty="0"/>
          </a:p>
        </p:txBody>
      </p:sp>
      <p:pic>
        <p:nvPicPr>
          <p:cNvPr id="3" name="Picture 2">
            <a:extLst>
              <a:ext uri="{FF2B5EF4-FFF2-40B4-BE49-F238E27FC236}">
                <a16:creationId xmlns:a16="http://schemas.microsoft.com/office/drawing/2014/main" id="{A2435356-FDFA-6098-B42D-0131C82659E3}"/>
              </a:ext>
            </a:extLst>
          </p:cNvPr>
          <p:cNvPicPr>
            <a:picLocks noChangeAspect="1"/>
          </p:cNvPicPr>
          <p:nvPr/>
        </p:nvPicPr>
        <p:blipFill>
          <a:blip r:embed="rId3"/>
          <a:stretch>
            <a:fillRect/>
          </a:stretch>
        </p:blipFill>
        <p:spPr>
          <a:xfrm>
            <a:off x="1323724" y="2084330"/>
            <a:ext cx="4435224" cy="4244708"/>
          </a:xfrm>
          <a:prstGeom prst="rect">
            <a:avLst/>
          </a:prstGeom>
        </p:spPr>
      </p:pic>
    </p:spTree>
    <p:extLst>
      <p:ext uri="{BB962C8B-B14F-4D97-AF65-F5344CB8AC3E}">
        <p14:creationId xmlns:p14="http://schemas.microsoft.com/office/powerpoint/2010/main" val="558214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756137"/>
            <a:ext cx="6211793" cy="2269107"/>
          </a:xfrm>
          <a:prstGeom prst="rect">
            <a:avLst/>
          </a:prstGeom>
        </p:spPr>
        <p:txBody>
          <a:bodyPr vert="horz" lIns="91440" tIns="45720" rIns="91440" bIns="45720" rtlCol="0">
            <a:normAutofit fontScale="92500"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000" dirty="0"/>
              <a:t>This project can be improved by adding real-time weather data and machine learning to predict crop performance. A mobile application and interactive dashboard can also be developed to help farmers access insights easily. In the future, AI and IoT technologies can be integrated to support better farming decisions and improve agricultural productivity.</a:t>
            </a:r>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77C7E948-AA5E-E07C-C7DC-6850963564D3}"/>
              </a:ext>
            </a:extLst>
          </p:cNvPr>
          <p:cNvPicPr>
            <a:picLocks noChangeAspect="1"/>
          </p:cNvPicPr>
          <p:nvPr/>
        </p:nvPicPr>
        <p:blipFill>
          <a:blip r:embed="rId3"/>
          <a:stretch>
            <a:fillRect/>
          </a:stretch>
        </p:blipFill>
        <p:spPr>
          <a:xfrm>
            <a:off x="754144" y="1347064"/>
            <a:ext cx="7413604" cy="5221376"/>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776</TotalTime>
  <Words>464</Words>
  <Application>Microsoft Office PowerPoint</Application>
  <PresentationFormat>Widescreen</PresentationFormat>
  <Paragraphs>49</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Trebuchet MS</vt:lpstr>
      <vt:lpstr>Wingdings</vt:lpstr>
      <vt:lpstr>Wingdings 3</vt:lpstr>
      <vt:lpstr>Facet</vt:lpstr>
      <vt:lpstr>Project Title -Seasonal Agriculture Performance Analysis</vt:lpstr>
      <vt:lpstr>PROBLEM  STATEMENT</vt:lpstr>
      <vt:lpstr>Project Description  Seasonal Agriculture Performance Analysis is a data analytics project that examines agricultural performance across different seasons using Python. The project analyzes factors such as crop yield, rainfall, temperature, humidity, revenue, profit, water usage, and irrigation methods to identify seasonal trends and patterns. Data cleaning, visualization, and statistical analysis are performed using Pandas, NumPy, Matplotlib, and Seaborn. The insights generated from the analysis help understand seasonal variations, improve resource utilization, and support data-driven decision-making for better agricultural planning. This project is implemented in Google Colab using Python. </vt:lpstr>
      <vt:lpstr>WHO ARE THE END USERS?</vt:lpstr>
      <vt:lpstr>Technology Used</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prasant gouda</cp:lastModifiedBy>
  <cp:revision>101</cp:revision>
  <dcterms:created xsi:type="dcterms:W3CDTF">2021-07-11T13:13:15Z</dcterms:created>
  <dcterms:modified xsi:type="dcterms:W3CDTF">2026-09-15T14:27:30Z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